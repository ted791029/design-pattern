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2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256032"/>
            <a:ext cx="2788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1">
                <a:solidFill>
                  <a:srgbClr val="C9A02B"/>
                </a:solidFill>
                <a:latin typeface="Impact"/>
              </a:rPr>
              <a:t>THUS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98448"/>
            <a:ext cx="2651760" cy="36576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389888"/>
            <a:ext cx="276148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微軟正黑體"/>
              </a:rPr>
              <a:t>從夥伴經營到品牌成長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2816351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latin typeface="Segoe UI Emoji"/>
              </a:rPr>
              <a:t>💡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共創學術價值</a:t>
            </a:r>
          </a:p>
          <a:p>
            <a:pPr algn="l">
              <a:spcBef>
                <a:spcPts val="100"/>
              </a:spcBef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放大國際影響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6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5562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微軟正黑體"/>
              </a:rPr>
              <a:t>臺北醫學大學  ·  Office of Global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0312" y="654710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91440"/>
            <a:ext cx="88971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A296B"/>
                </a:solidFill>
                <a:latin typeface="微軟正黑體"/>
              </a:rPr>
              <a:t>國際網絡經營至品牌國際影響力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79" y="667512"/>
            <a:ext cx="8897112" cy="27432"/>
          </a:xfrm>
          <a:prstGeom prst="rect">
            <a:avLst/>
          </a:prstGeom>
          <a:solidFill>
            <a:srgbClr val="1A2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713232"/>
            <a:ext cx="8897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1">
                <a:solidFill>
                  <a:srgbClr val="1A296B"/>
                </a:solidFill>
                <a:latin typeface="Times New Roman"/>
              </a:rPr>
              <a:t>"Well-managed partnership produces measurable academic excellence, which translates into university international branding"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744" y="868680"/>
            <a:ext cx="3840480" cy="537667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246120" y="1234440"/>
            <a:ext cx="384048" cy="384048"/>
          </a:xfrm>
          <a:prstGeom prst="ellipse">
            <a:avLst/>
          </a:prstGeom>
          <a:solidFill>
            <a:srgbClr val="C17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23444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170432"/>
            <a:ext cx="4288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C17F3E"/>
                </a:solidFill>
                <a:latin typeface="微軟正黑體"/>
              </a:rPr>
              <a:t>萌芽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1755648"/>
            <a:ext cx="4288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A296B"/>
                </a:solidFill>
                <a:latin typeface="微軟正黑體"/>
              </a:rPr>
              <a:t>建立連結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249424"/>
            <a:ext cx="4901184" cy="36576"/>
          </a:xfrm>
          <a:prstGeom prst="rect">
            <a:avLst/>
          </a:prstGeom>
          <a:solidFill>
            <a:srgbClr val="C17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2359152"/>
            <a:ext cx="48097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E52"/>
                </a:solidFill>
                <a:latin typeface="微軟正黑體"/>
              </a:rPr>
              <a:t>●  與國際夥伴建立合作關係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E52"/>
                </a:solidFill>
                <a:latin typeface="微軟正黑體"/>
              </a:rPr>
              <a:t>●  開啟學術交流與人才互動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E52"/>
                </a:solidFill>
                <a:latin typeface="微軟正黑體"/>
              </a:rPr>
              <a:t>●  奠定信任與合作基礎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5980176"/>
            <a:ext cx="4992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1">
                <a:solidFill>
                  <a:srgbClr val="1A296B"/>
                </a:solidFill>
                <a:latin typeface="微軟正黑體"/>
              </a:rPr>
              <a:t>每一個連結，都是改變的開始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2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256032"/>
            <a:ext cx="2788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1">
                <a:solidFill>
                  <a:srgbClr val="C9A02B"/>
                </a:solidFill>
                <a:latin typeface="Impact"/>
              </a:rPr>
              <a:t>THUS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98448"/>
            <a:ext cx="2651760" cy="36576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389888"/>
            <a:ext cx="276148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微軟正黑體"/>
              </a:rPr>
              <a:t>從夥伴經營到品牌成長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2816351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latin typeface="Segoe UI Emoji"/>
              </a:rPr>
              <a:t>💡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共創學術價值</a:t>
            </a:r>
          </a:p>
          <a:p>
            <a:pPr algn="l">
              <a:spcBef>
                <a:spcPts val="100"/>
              </a:spcBef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放大國際影響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6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5562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微軟正黑體"/>
              </a:rPr>
              <a:t>臺北醫學大學  ·  Office of Global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0312" y="654710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91440"/>
            <a:ext cx="88971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A296B"/>
                </a:solidFill>
                <a:latin typeface="微軟正黑體"/>
              </a:rPr>
              <a:t>國際網絡經營至品牌國際影響力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79" y="667512"/>
            <a:ext cx="8897112" cy="27432"/>
          </a:xfrm>
          <a:prstGeom prst="rect">
            <a:avLst/>
          </a:prstGeom>
          <a:solidFill>
            <a:srgbClr val="1A2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713232"/>
            <a:ext cx="8897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1">
                <a:solidFill>
                  <a:srgbClr val="1A296B"/>
                </a:solidFill>
                <a:latin typeface="Times New Roman"/>
              </a:rPr>
              <a:t>"Well-managed partnership produces measurable academic excellence, which translates into university international branding"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744" y="868680"/>
            <a:ext cx="3840480" cy="537667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246120" y="1234440"/>
            <a:ext cx="384048" cy="384048"/>
          </a:xfrm>
          <a:prstGeom prst="ellipse">
            <a:avLst/>
          </a:prstGeom>
          <a:solidFill>
            <a:srgbClr val="3D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23444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170432"/>
            <a:ext cx="4288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D8A3A"/>
                </a:solidFill>
                <a:latin typeface="微軟正黑體"/>
              </a:rPr>
              <a:t>成長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1755648"/>
            <a:ext cx="4288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A296B"/>
                </a:solidFill>
                <a:latin typeface="微軟正黑體"/>
              </a:rPr>
              <a:t>深化合作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249424"/>
            <a:ext cx="4901184" cy="36576"/>
          </a:xfrm>
          <a:prstGeom prst="rect">
            <a:avLst/>
          </a:prstGeom>
          <a:solidFill>
            <a:srgbClr val="3D8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2359152"/>
            <a:ext cx="48097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E52"/>
                </a:solidFill>
                <a:latin typeface="微軟正黑體"/>
              </a:rPr>
              <a:t>●  共同研究與計畫合作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E52"/>
                </a:solidFill>
                <a:latin typeface="微軟正黑體"/>
              </a:rPr>
              <a:t>●  資源共享與能力互補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E52"/>
                </a:solidFill>
                <a:latin typeface="微軟正黑體"/>
              </a:rPr>
              <a:t>●  拓展國際能見度與影響力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5980176"/>
            <a:ext cx="4992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1">
                <a:solidFill>
                  <a:srgbClr val="1A296B"/>
                </a:solidFill>
                <a:latin typeface="微軟正黑體"/>
              </a:rPr>
              <a:t>深化合作，讓影響力持續擴大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1A2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256032"/>
            <a:ext cx="2788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 i="1">
                <a:solidFill>
                  <a:srgbClr val="C9A02B"/>
                </a:solidFill>
                <a:latin typeface="Impact"/>
              </a:rPr>
              <a:t>THUS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298448"/>
            <a:ext cx="2651760" cy="36576"/>
          </a:xfrm>
          <a:prstGeom prst="rect">
            <a:avLst/>
          </a:prstGeom>
          <a:solidFill>
            <a:srgbClr val="C9A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389888"/>
            <a:ext cx="2761487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微軟正黑體"/>
              </a:rPr>
              <a:t>從夥伴經營到品牌成長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4846320"/>
            <a:ext cx="2816351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latin typeface="Segoe UI Emoji"/>
              </a:rPr>
              <a:t>💡</a:t>
            </a:r>
          </a:p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共創學術價值</a:t>
            </a:r>
          </a:p>
          <a:p>
            <a:pPr algn="l">
              <a:spcBef>
                <a:spcPts val="100"/>
              </a:spcBef>
            </a:pPr>
            <a:r>
              <a:rPr sz="1400" b="1" i="0">
                <a:solidFill>
                  <a:srgbClr val="FFFFFF"/>
                </a:solidFill>
                <a:latin typeface="微軟正黑體"/>
              </a:rPr>
              <a:t>放大國際影響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6B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5562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0">
                <a:solidFill>
                  <a:srgbClr val="FFFFFF"/>
                </a:solidFill>
                <a:latin typeface="微軟正黑體"/>
              </a:rPr>
              <a:t>臺北醫學大學  ·  Office of Global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0312" y="6547104"/>
            <a:ext cx="502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91440"/>
            <a:ext cx="889711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A296B"/>
                </a:solidFill>
                <a:latin typeface="微軟正黑體"/>
              </a:rPr>
              <a:t>國際網絡經營至品牌國際影響力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79" y="667512"/>
            <a:ext cx="8897112" cy="27432"/>
          </a:xfrm>
          <a:prstGeom prst="rect">
            <a:avLst/>
          </a:prstGeom>
          <a:solidFill>
            <a:srgbClr val="1A2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713232"/>
            <a:ext cx="8897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 i="1">
                <a:solidFill>
                  <a:srgbClr val="1A296B"/>
                </a:solidFill>
                <a:latin typeface="Times New Roman"/>
              </a:rPr>
              <a:t>"Well-managed partnership produces measurable academic excellence, which translates into university international branding"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744" y="868680"/>
            <a:ext cx="3840480" cy="5376672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246120" y="1234440"/>
            <a:ext cx="384048" cy="384048"/>
          </a:xfrm>
          <a:prstGeom prst="ellipse">
            <a:avLst/>
          </a:prstGeom>
          <a:solidFill>
            <a:srgbClr val="1B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234440"/>
            <a:ext cx="384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170432"/>
            <a:ext cx="42885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6E3E"/>
                </a:solidFill>
                <a:latin typeface="微軟正黑體"/>
              </a:rPr>
              <a:t>茁壯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1755648"/>
            <a:ext cx="42885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A296B"/>
                </a:solidFill>
                <a:latin typeface="微軟正黑體"/>
              </a:rPr>
              <a:t>共創價值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249424"/>
            <a:ext cx="4901184" cy="36576"/>
          </a:xfrm>
          <a:prstGeom prst="rect">
            <a:avLst/>
          </a:prstGeom>
          <a:solidFill>
            <a:srgbClr val="1B6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2359152"/>
            <a:ext cx="480974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0F1E52"/>
                </a:solidFill>
                <a:latin typeface="微軟正黑體"/>
              </a:rPr>
              <a:t>●  解決全球議題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E52"/>
                </a:solidFill>
                <a:latin typeface="微軟正黑體"/>
              </a:rPr>
              <a:t>●  培育國際領袖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E52"/>
                </a:solidFill>
                <a:latin typeface="微軟正黑體"/>
              </a:rPr>
              <a:t>●  提升全球影響力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0F1E52"/>
                </a:solidFill>
                <a:latin typeface="微軟正黑體"/>
              </a:rPr>
              <a:t>●  實現永續發展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5980176"/>
            <a:ext cx="49926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 i="1">
                <a:solidFill>
                  <a:srgbClr val="1A296B"/>
                </a:solidFill>
                <a:latin typeface="微軟正黑體"/>
              </a:rPr>
              <a:t>共創價值，成就永續影響力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